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Éthique, scope et preuve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Tester seulement ce qui est autorisé, puis rendre la preuve vérifiable.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Borner cible, durée et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Distinguer fait, hypothèse et conclusion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Revenir à un état propre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Autorisation explicite avant outil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Preuve minimale, horodatée et expurgée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Stop condition en cas de doute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autorisation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scope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état initial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action minimale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preuve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 étudiant reçoit une URL interne sans propriétaire ni fenêtre de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L'URL seule ne prouve ni l'autorisation ni le périmètre.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Une action non autorisée expose personnes, données et université.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Tester d'abord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Copier toute la sortie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Nettoyer si le temps reste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Demander l'autorisation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Expurger la preuve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Préparer le 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Vérifier le laboratoire avant toute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docker compose config -q &amp;&amp; docker compose 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configuration valide; services attendus identifiés, sans cible externe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Quelles informations manquent avant la première commande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S01 · C01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Diagnostic + TP01-A: vérifier, démarrer, observer, reset et créer l'index de preuves.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scope signé ou consigne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health check réel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preuve de cleanup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Du DNS à la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Suivre une requête sans sauter de couche ni confondre protocole et composant.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Ordonner DNS, TCP, TLS et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Relier proxy, API et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Localiser une panne par couche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nom se résout avant la connexion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TLS protège le transport, pas la logique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proxy ne remplace pas l'autorisation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400338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DNS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785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0730" y="2240280"/>
            <a:ext cx="1400338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3882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TCP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27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5660" y="2240280"/>
            <a:ext cx="1400338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8812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TLS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771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0590" y="2240280"/>
            <a:ext cx="1400338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3742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HTTP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641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5521" y="2240280"/>
            <a:ext cx="1400338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8673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Nginx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7571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0451" y="2240280"/>
            <a:ext cx="1400338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3603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2501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5381" y="2240280"/>
            <a:ext cx="1400338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8533" y="2395728"/>
            <a:ext cx="1254034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2A43"/>
                </a:solidFill>
                <a:latin typeface="Liberation Sans"/>
              </a:rPr>
              <a:t>PostgreSQL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Le navigateur affiche une erreur alors que le conteneur API est healthy.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 health check local ne couvre pas DNS, TLS, proxy ni parcours utilisateur.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Changer plusieurs couches à la fois détruit la valeur diagnostique.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Redémarrer tout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Ajouter -k partout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Accuser la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Tester chaque frontière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Conserver le même path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Comparer status et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Tracer une requête HTTP et le certificat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-i http://127.0.0.1:8080/api/health &amp;&amp; openssl s_client -connect 127.0.0.1:8443 -servername localhost &lt;/dev/null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HTTP 200 JSON; chaîne et identité du certificat local visibles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Où chercher si TCP fonctionne mais que TLS échoue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S02 · C02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TP01-B + TD01: produire une trace annotée DNS -&gt; DB et une hypothèse falsifiable.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requête brute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certificat observé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corrélation proxy/API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HTTP et contrôles navigateur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Lire requêtes, réponses, cookies et politiques navigateur comme un contrat.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Interpréter méthodes, statuts et headers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Distinguer cookie et session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Séparer SOP, CORS et CSP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statut décrit un résultat 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SameSite n'est pas une autorisation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CORS contrôle une lecture navigateur, pas curl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authn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authz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browser policy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Une API renvoie 200 au bon utilisateur mais le navigateur bloque la lecture cross-origin.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L'API a traité la requête; la politique navigateur bloque l'accès du script à la réponse.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Ouvrir CORS à toutes les origines masque la conception des origines de confiance.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Access-Control-Allow-Origin: *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Cookie sans Secure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CSP absente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Origines explicites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Cookie HttpOnly/Secure/SameSite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CSP adaptée aux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Comparer réponse HTTP et décision navigateur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-i -H 'Origin: http://example.invalid' http://127.0.0.1:8080/api/health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status et headers visibles; aucune conclusion automatique sur le comportement d'un navigateur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Pourquoi curl ne prouve-t-il pas qu'une configuration CORS fonctionne dans le navigateur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S03 · C02 / C03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TP02-A: annoter requête/réponse et matrice navigateur/serveur.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headers justifiés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cookie évalué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limite navigateur/curl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Menaces et risque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Passer d'un dessin d'architecture à des scénarios testables et priorisés.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Identifier actifs et entrées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Dessiner les frontières de confiance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Relier menace, contrôle et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Une frontière marque un changement de confiance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OWASP guide le raisonnement, pas le verdict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risque dépend du contexte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frontières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contrôles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Le frontend et l'API partagent le même laptop mais pas la même responsabilité.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Deux processus et interfaces distincts créent une frontière même sur un hôte unique.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 catalogue de vulnérabilités sans actif ni preuve ne priorise rien.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Lister OWASP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Attribuer un score seul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Dessiner sans flux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Nommer l'actif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Formuler l'abus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Définir un test falsifiable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Construire un scénario acteur -&gt; actif -&gt; contrôle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printf '%s</a:t>
            </a:r>
          </a:p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' 'acteur=client' 'action=lit objet tiers' 'actif=profil' 'contrôle=owner check' 'test=200/403'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six champs reliés: acteur, action, actif, impact, contrôle et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Quelle observation réfuterait votre scénario de BOLA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S04 · C04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TD02 + jalon capstone: DFD, quatre scénarios d'abus et tests associés.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DFD légendé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frontières justifiées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test négatif/positif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Authentification et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Concevoir un cycle d'identité qui résiste avant, pendant et après la connexion.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Expliquer hash, MFA et 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Suivre création, rotation et révocation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Comparer cookie de session et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hash protège au repos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MFA réduit un risque, sans tout résoudre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Logout doit invalider le contexte serveur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session créée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révocation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 identifiant de session reste inchangé avant et après authentification.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La continuité de l'identifiant rend plausible une fixation de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Ajouter une expiration longue ne corrige pas l'absence de rotation.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Stockage réversible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Token éternel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Logout côté écran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Hash adapté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Rotation à l'authn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Révocation et délai borné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Observer les changements du contexte d'authentification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-i -c /tmp/session.cookies -b /tmp/session.cookies http://127.0.0.1:8080/api/health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headers Set-Cookie/Cookie observables ou absence explicitement documentée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Que doit invalider un logout fiable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S05 · C03 / C05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TP02-B: observer login, expiration, rotation et logout; proposer deux tests négatifs.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avant/après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rejet après logout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aucun secret dans la preuve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Autorisation et BOLA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Décider côté serveur qui peut faire quoi sur quel objet, à chaque requête.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Distinguer authn et authz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Comparer RBAC et décision 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Prouver 200/401/403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rôle ne prouve pas la propriété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client contrôle l'identifiant demandé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Chaque objet exige une décision serveur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subject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allow/deny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Alice change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/users/1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 en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/users/2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 et reçoit le profil de Bob.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L'identité est valide, mais l'API n'a pas vérifié la propriété de l'objet.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Cacher le bouton ou utiliser un UUID ne remplace pas le contrôle serveur.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Contrôle frontend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Rôle user seulement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Objet prévisible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Owner/admin côté API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Deny par défaut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Journal sans donnée sensible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Établir la matrice 200/401/403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-sS -o /dev/null -w '%{http_code}</a:t>
            </a:r>
          </a:p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' -H 'Authorization: Bearer TOKEN' http://127.0.0.1:8080/api/users/2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200 en état vulnérable; 403 après correction; 401 sans identité; 200 pour l'objet propre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Pourquoi faut-il retester aussi l'objet d'Alice après la correction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S06 · C06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TP03: reproduire BOLA, modifier le contrôle, obtenir 200/401/403 et documenter le risque résiduel.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baseline propriétaire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refus objet tiers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log authz expurgé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Validation et SQLi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Séparer strictement structure SQL et données, puis prouver la non-régression.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Tracer source, validation et sink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Expliquer la requête paramétrée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Retester attaque et usage légitime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typage réduit les entrées possibles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Les paramètres séparent code et donnée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filtre d'apostrophes est contournable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entrée 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schéma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requête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résultat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Une recherche concatène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q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 dans SQL et un payload renvoie tout le catalogue.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La variation du nombre de lignes établit un comportement injectable dans le lab.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Supprimer certains caractères altère les données et laisse d'autres syntaxes.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Concaténation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Blacklist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Compte DB propriétaire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Paramètres driver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Validation métier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Rôle DB minimal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Comparer baseline, payload et requête paramétrée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-sS --get --data-urlencode "q=' OR '1'='1" http://127.0.0.1:8080/api/products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plusieurs lignes avant; aucune ligne après; </a:t>
            </a:r>
            <a:r>
              <a:rPr sz="1800" b="1">
                <a:solidFill>
                  <a:srgbClr val="102A43"/>
                </a:solidFill>
                <a:latin typeface="Liberation Mono"/>
              </a:rPr>
              <a:t>q=lamp</a:t>
            </a:r>
            <a:r>
              <a:rPr sz="1800" b="1">
                <a:solidFill>
                  <a:srgbClr val="102A43"/>
                </a:solidFill>
                <a:latin typeface="Liberation Sans"/>
              </a:rPr>
              <a:t> reste fonctionnel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Pourquoi la validation seule ne remplace-t-elle pas les paramètres SQL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S07 · C07 /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TP04-A: SQLi locale, correction source, test négatif et recherche légitime.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diff du sink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résultat avant/après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privilèges DB relevés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XSS, CSRF et CSP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Adapter le contrôle au contexte de sortie et au modèle d'envoi des credentials.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Distinguer validation et encodage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Expliquer CSRF et SameSite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Utiliser CSP en défense supplémentaire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L'encodage dépend du contexte HTML/JS/URL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CSRF exploite l'envoi automatique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CSP ne répare pas un sink dangereux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entrée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stockage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navigateur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origine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 commentaire est inséré dans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innerHTML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; le cookie est envoyé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Le sink interprète du HTML contrôlé et l'action serveur peut manquer de preuve d'intention.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Une CSP permissive ou SameSite seul laisse des chemins d'attaque.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innerHTML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CSRF sans token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CSP unsafe-inline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textContent/encoding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token + origine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CSP restrictive mesurée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Comparer texte sûr et interprétation 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printf '%s</a:t>
            </a:r>
          </a:p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' '&lt;img src=x onerror=alert(1)&gt;' | python3 -c 'import html,sys; print(html.escape(sys.stdin.read()))'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les caractères actifs deviennent des entités; le contexte exact reste à vérifier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Pourquoi </a:t>
            </a:r>
            <a:r>
              <a:rPr sz="2400" b="1">
                <a:solidFill>
                  <a:srgbClr val="FFFFFF"/>
                </a:solidFill>
                <a:latin typeface="Liberation Mono"/>
              </a:rPr>
              <a:t>SameSite=Lax</a:t>
            </a:r>
            <a:r>
              <a:rPr sz="2400" b="1">
                <a:solidFill>
                  <a:srgbClr val="FFFFFF"/>
                </a:solidFill>
                <a:latin typeface="Liberation Sans"/>
              </a:rPr>
              <a:t> n'est-il pas une correction universelle de CSRF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S08 · C03 /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TP04-B + Quiz 2: cas XSS/CSRF locaux, correction, CSP et retest.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sink identifié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requête CSRF comparée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CSP expliquée sans sur-promesse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Commande, fichiers et SSRF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Réduire l'interprétation implicite et borner chaque accès système ou réseau.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Éviter le shell pour les commandes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Canonicaliser et isoler les fichiers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Appliquer allowlist et egress au SSRF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Une extension ne prouve pas le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chemin final se vérifie après résolution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SSRF combine validation et segmentation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entrée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normalisation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allowlist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opération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destination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 nom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../private/demo.txt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 sort du répertoire public; une URL vise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db:5432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Les entrées franchissent une frontière fichier ou réseau non prévue.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Une blacklist de </a:t>
            </a:r>
            <a:r>
              <a:rPr sz="2000" b="1">
                <a:solidFill>
                  <a:srgbClr val="172533"/>
                </a:solidFill>
                <a:latin typeface="Liberation Mono"/>
              </a:rPr>
              <a:t>../</a:t>
            </a:r>
            <a:r>
              <a:rPr sz="2000" b="1">
                <a:solidFill>
                  <a:srgbClr val="172533"/>
                </a:solidFill>
                <a:latin typeface="Liberation Sans"/>
              </a:rPr>
              <a:t> ou de </a:t>
            </a:r>
            <a:r>
              <a:rPr sz="2000" b="1">
                <a:solidFill>
                  <a:srgbClr val="172533"/>
                </a:solidFill>
                <a:latin typeface="Liberation Mono"/>
              </a:rPr>
              <a:t>localhost</a:t>
            </a:r>
            <a:r>
              <a:rPr sz="2000" b="1">
                <a:solidFill>
                  <a:srgbClr val="172533"/>
                </a:solidFill>
                <a:latin typeface="Liberation Sans"/>
              </a:rPr>
              <a:t> ne couvre ni encodages ni redirections.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shell=True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nom de fichier brut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URL arbitraire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API sans shell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nom généré + stockage hors webroot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allowlist + egress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Observer une traversal bornée puis le refus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-sS --get --data-urlencode 'name=../sample-private/demo.txt' http://127.0.0.1:8080/api/file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chaîne synthétique avant; refus contrôlé après; fichier public toujours accessible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À quel moment comparer le chemin à la racine autorisée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S09 · C07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TP05 + jalon capstone: cas bornés, corrections et retests commande/traversal/upload/SSRF.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aucun fetch externe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fichier synthétique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cas légitime préservé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Sécurité des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Faire respecter le contrat API sur identité, objet, propriétés, volume et erreurs.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Inventorier routes et schémas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Bloquer BOLA et mass assignment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Borner quotas et données exposées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OpenAPI décrit l'intention, pas toute la réalité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Une allowlist de propriétés bloque l'over-posting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429 exige une fenêtre explicite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inventaire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authn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authz objet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schéma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quota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Le client ajoute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role=admin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 à un JSON accepté directement par le modèle persistant.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Une propriété non prévue franchit le binding client -&gt; objet serveur.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Masquer le champ dans l'interface ne change pas le JSON envoyé.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bind automatique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données excessives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quota global flou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DTO allowlist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réponse minimale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quota par identité + 429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Comparer OpenAPI et propriétés réellement acceptées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-sS http://127.0.0.1:8080/api/openapi.json | python3 -m json.tool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routes et schémas déclarés; les tests négatifs révèlent les écarts d'implémentation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Que manque-t-il à un inventaire OpenAPI pour conclure sur la sécurité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S10 · C06 / C08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TP06-A: inventaire, BOLA, mass assignment, rate limiting et logs.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route/identité/objet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propriété rejetée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429 et fenêtre documentés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TLS, proxy et conteneurs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Durcir la frontière d'entrée sans casser la visibilité ni faire confiance aux mauvais headers.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Expliquer certificat et terminaison TLS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Valider forwarded headers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Réduire privilèges conteneur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proxy est une frontière de confiance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HSTS suppose HTTPS 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Non-root et read-only limitent l'impact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headers fiables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conteneur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L'API croit </a:t>
            </a:r>
            <a:r>
              <a:rPr sz="2100" b="1">
                <a:solidFill>
                  <a:srgbClr val="102A43"/>
                </a:solidFill>
                <a:latin typeface="Liberation Mono"/>
              </a:rPr>
              <a:t>X-Forwarded-For</a:t>
            </a:r>
            <a:r>
              <a:rPr sz="2100" b="1">
                <a:solidFill>
                  <a:srgbClr val="102A43"/>
                </a:solidFill>
                <a:latin typeface="Liberation Sans"/>
              </a:rPr>
              <a:t> envoyé directement par un client non fiable.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Le header ne devient fiable que s'il vient d'un proxy connu qui remplace la valeur entrante.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Faire confiance à tous les proxies permet d'inventer origine ou schéma.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TLS -k permanent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trust proxy=*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root + filesystem writable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CA locale documentée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proxy connu + overwrite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non-root/read-only/cap_drop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Vérifier certificat et headers de défense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openssl s_client -connect 127.0.0.1:8443 -servername localhost &lt;/dev/null 2&gt;/dev/null | openssl x509 -noout -subject -issuer -dates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subject, issuer et validité visibles; aucun jugement sans hostname et chaîne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Pourquoi </a:t>
            </a:r>
            <a:r>
              <a:rPr sz="2400" b="1">
                <a:solidFill>
                  <a:srgbClr val="FFFFFF"/>
                </a:solidFill>
                <a:latin typeface="Liberation Mono"/>
              </a:rPr>
              <a:t>curl -k</a:t>
            </a:r>
            <a:r>
              <a:rPr sz="2400" b="1">
                <a:solidFill>
                  <a:srgbClr val="FFFFFF"/>
                </a:solidFill>
                <a:latin typeface="Liberation Sans"/>
              </a:rPr>
              <a:t> est-il utile au diagnostic mais pas une remédiation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S11 · C09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TP06-B: durcir Nginx/TLS/conteneurs et vérifier sans exposition réseau.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certificat expliqué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headers source -&gt; proxy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capabilities relevées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Sécurité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Limiter les droits, protéger les données et prouver qu'une restauration fonctionne.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Séparer propriétaire, migration et runtime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Expliquer chiffrement transit/repos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Tester backup, restore et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compte runtime n'est pas propriétaire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backup non restauré reste une hypothèse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L'audit exclut secrets et données inutiles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migrator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grants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backup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restore/audit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L'application se connecte avec le propriétaire de la base et peut modifier le schéma.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Une compromission applicative hérite de privilèges dépassant les besoins runtime.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Un mot de passe fort ne compense pas des grants excessifs.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rôle unique owner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backup jamais testé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logs SQL sensibles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rôles séparés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restore isolé vérifié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audit minimal et protégé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Lire les privilèges effectifs du rôle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psql -Atc "select current_user, current_database();" &amp;&amp; psql -c '\dp'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rôle et grants observables; CREATE/ALTER absents pour le runtime attendu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Quelle preuve transforme un backup en capacité de restauration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S12 · C10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TP07-A + jalon capstone: rôles minimaux, backup/restore et audit expurgé.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grants avant/après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restore prouvé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événement audit sans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DevSecOps et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Transformer les scans en décisions reproductibles, explicables et temporaires.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Distinguer SAST, SCA, DAST et secrets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Trier exploitabilité et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Versionner une exception expirante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scanner produit un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Une panne d'outil n'est pas un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Chaque exception a owner, raison et échéance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secret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tests/SAST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build/DAST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décision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Une CVE high est non atteignable; le pipeline l'ignore sans justification ni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L'absence de trace rend la décision impossible à réexaminer après changement.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Désactiver le gate transforme une exception locale en dette invisible.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allow failure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suppression globale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scan non épinglé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triage documenté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exception ciblée et expirante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outil/version enregistrés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Exécuter tests, SAST et audit de dépendances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python -m pytest -q &amp;&amp; bandit -q -r app &amp;&amp; pip-audit -r requirements.txt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chaque commande retourne un code exploité; finding ou panne ne sont jamais convertis silencieusement en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Quelles métadonnées minimales exige une exception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S13 · C11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TP07-B + checkpoint: pipeline local, triage et rapport d'exception versionné.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codes de sortie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triage signé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exception avec échéance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28016" cy="5303520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24688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3E1E7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14984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Liberation Sans"/>
              </a:rPr>
              <a:t>Détection, incident et rapport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D7E8EF"/>
                </a:solidFill>
                <a:latin typeface="Liberation Sans"/>
              </a:rPr>
              <a:t>Relier un signal à des faits, une décision proportionnée, une correction et un retest.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Corréler logs, métriques et traces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3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3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Construire une timeline sans sur-attribuer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1544" y="3703320"/>
            <a:ext cx="3182112" cy="1261872"/>
          </a:xfrm>
          <a:prstGeom prst="roundRect">
            <a:avLst/>
          </a:prstGeom>
          <a:solidFill>
            <a:srgbClr val="173D59"/>
          </a:solidFill>
          <a:ln w="12700">
            <a:solidFill>
              <a:srgbClr val="2B5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3867912"/>
            <a:ext cx="411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136" y="4224528"/>
            <a:ext cx="278892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Communiquer risque et incertitude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23560"/>
            <a:ext cx="98755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A8C3D1"/>
                </a:solidFill>
                <a:latin typeface="Liberation Sans"/>
              </a:rPr>
              <a:t>Palette pédagogique provisoire · charte officielle À confirmer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A8C3D1"/>
                </a:solidFill>
                <a:latin typeface="Liberation Sans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Trois repères avant l'outil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401568" cy="146304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8A9B8"/>
                </a:solidFill>
                <a:latin typeface="Liberatio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Un signal n'est pas une attribution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Décision observable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417320"/>
            <a:ext cx="3401568" cy="146304"/>
          </a:xfrm>
          <a:prstGeom prst="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76B91"/>
                </a:solidFill>
                <a:latin typeface="Liberatio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La corrélation exige temps et identifiant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Limite à expliciter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1" y="1417320"/>
            <a:ext cx="3401568" cy="42062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1" y="1417320"/>
            <a:ext cx="3401568" cy="146304"/>
          </a:xfrm>
          <a:prstGeom prst="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783080"/>
            <a:ext cx="6400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D69422"/>
                </a:solidFill>
                <a:latin typeface="Liberatio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542032"/>
            <a:ext cx="288036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2A43"/>
                </a:solidFill>
                <a:latin typeface="Liberation Sans"/>
              </a:rPr>
              <a:t>Le rapport sépare faits, hypothèses et risque résiduel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224528"/>
            <a:ext cx="28803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6777"/>
                </a:solidFill>
                <a:latin typeface="Liberation Sans"/>
              </a:rPr>
              <a:t>Preuve à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Le flux et ses décisions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28672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contexte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4424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7304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0456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0176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5928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8808" y="2240280"/>
            <a:ext cx="1661160" cy="1115568"/>
          </a:xfrm>
          <a:prstGeom prst="roundRect">
            <a:avLst/>
          </a:prstGeom>
          <a:solidFill>
            <a:srgbClr val="EDF5F7"/>
          </a:solidFill>
          <a:ln w="1778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1960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remédiation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606040"/>
            <a:ext cx="210311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4560" y="2240280"/>
            <a:ext cx="1661160" cy="1115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87712" y="2395728"/>
            <a:ext cx="151485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A43"/>
                </a:solidFill>
                <a:latin typeface="Liberation Sans"/>
              </a:rPr>
              <a:t>retest/rapport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10789920" cy="1143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19556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Liberation Sans"/>
              </a:rPr>
              <a:t>À chaque flèche : qui fait confiance à qui ? quelle donnée ? quel contrôle ? quelle preuve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Cas guidé : faits avant verdict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10972800" cy="1078992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00200"/>
            <a:ext cx="10469880" cy="60350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43"/>
                </a:solidFill>
                <a:latin typeface="Liberation Sans"/>
              </a:rPr>
              <a:t>Les 401 augmentent après une mise en production; aucune trace ne relie requête et changement.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52303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4768" y="2788920"/>
            <a:ext cx="54223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47A5A"/>
                </a:solidFill>
                <a:latin typeface="Liberation Sans"/>
              </a:rPr>
              <a:t>FAIT OBSERVÉ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461772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La métrique établit une variation, pas sa cause ni un attaquant.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054096"/>
            <a:ext cx="18288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4473C"/>
                </a:solidFill>
                <a:latin typeface="Liberation Sans"/>
              </a:rPr>
              <a:t>RISQUE À TESTER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566160"/>
            <a:ext cx="4800600" cy="11155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33"/>
                </a:solidFill>
                <a:latin typeface="Liberation Sans"/>
              </a:rPr>
              <a:t>Bloquer une plage réseau sans contexte peut aggraver l'incident.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76B91"/>
                </a:solidFill>
                <a:latin typeface="Liberation Sans"/>
              </a:rPr>
              <a:t>Règle : une hypothèse utile indique l'observation qui pourrait la réfuter.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Vulnérable -&gt; corrigé -&gt; vérifié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5074920" cy="4315968"/>
          </a:xfrm>
          <a:prstGeom prst="roundRect">
            <a:avLst/>
          </a:prstGeom>
          <a:solidFill>
            <a:srgbClr val="FCEDEA"/>
          </a:solidFill>
          <a:ln w="12700">
            <a:solidFill>
              <a:srgbClr val="E7B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3952" y="1353312"/>
            <a:ext cx="5074920" cy="4315968"/>
          </a:xfrm>
          <a:prstGeom prst="roundRect">
            <a:avLst/>
          </a:prstGeom>
          <a:solidFill>
            <a:srgbClr val="E9F6F0"/>
          </a:solidFill>
          <a:ln w="12700">
            <a:solidFill>
              <a:srgbClr val="A8D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4473C"/>
                </a:solidFill>
                <a:latin typeface="Liberation Sans"/>
              </a:rPr>
              <a:t>ÉTAT VULNÉRABLE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1627632"/>
            <a:ext cx="4526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47A5A"/>
                </a:solidFill>
                <a:latin typeface="Liberation Sans"/>
              </a:rPr>
              <a:t>ÉTAT CORRIGÉ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alerte=incident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loguer Authorization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X  corriger sans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331720"/>
            <a:ext cx="4480560" cy="2697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corrélation_id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données minimales</a:t>
            </a:r>
          </a:p>
          <a:p>
            <a:pPr>
              <a:spcAft>
                <a:spcPts val="1000"/>
              </a:spcAft>
              <a:defRPr sz="1900">
                <a:solidFill>
                  <a:srgbClr val="172533"/>
                </a:solidFill>
                <a:latin typeface="Liberation Sans"/>
              </a:defRPr>
            </a:pPr>
            <a:r>
              <a:rPr/>
              <a:t>OK  retest + risque résiduel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081528"/>
            <a:ext cx="12801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D69422"/>
                </a:solidFill>
                <a:latin typeface="Liberation Sans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15584"/>
            <a:ext cx="106984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76B91"/>
                </a:solidFill>
                <a:latin typeface="Liberation Sans"/>
              </a:rPr>
              <a:t>Même test négatif + parcours légitime positif + risque résiduel explicite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Démo : Interroger un signal et chercher sa corrélation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2240280"/>
          </a:xfrm>
          <a:prstGeom prst="roundRect">
            <a:avLst/>
          </a:prstGeom>
          <a:solidFill>
            <a:srgbClr val="172533"/>
          </a:solidFill>
          <a:ln w="12700">
            <a:solidFill>
              <a:srgbClr val="355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3E1E7"/>
                </a:solidFill>
                <a:latin typeface="Liberation Sans"/>
              </a:rPr>
              <a:t>TERMINAL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FFFFFF"/>
                </a:solidFill>
                <a:latin typeface="Liberation Mono"/>
              </a:rPr>
              <a:t>$ curl -sS 'http://127.0.0.1:9090/api/v1/query?query=websec_http_requests_total' | python3 -m json.tool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58768"/>
            <a:ext cx="10881360" cy="148132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182880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SORTIE ATTENDUE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98848"/>
            <a:ext cx="1028700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status success et séries; une timeline exige ensuite logs/traces et contexte de changement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87568"/>
            <a:ext cx="10652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D69422"/>
                </a:solidFill>
                <a:latin typeface="Liberation Sans"/>
              </a:rPr>
              <a:t>Prédire -&gt; exécuter -&gt; lire -&gt; conclure -&gt; retester -&gt;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Checkpoint de compréhension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141732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1028700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Liberation Sans"/>
              </a:rPr>
              <a:t>Qu'est-ce qui permet de passer d'un signal à une décision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8A9B8"/>
                </a:solidFill>
                <a:latin typeface="Liberation Sans"/>
              </a:rPr>
              <a:t>1 ·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Formulez votre réponse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6B91"/>
                </a:solidFill>
                <a:latin typeface="Liberation Sans"/>
              </a:rPr>
              <a:t>2 ·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Quelle observation la soutient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246120"/>
            <a:ext cx="3456432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3502152"/>
            <a:ext cx="301752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69422"/>
                </a:solidFill>
                <a:latin typeface="Liberation Sans"/>
              </a:rPr>
              <a:t>3 · Limite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4041648"/>
            <a:ext cx="3017520" cy="7498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2A43"/>
                </a:solidFill>
                <a:latin typeface="Liberation Sans"/>
              </a:rPr>
              <a:t>Qu'est-ce qui reste non prouvé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82880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6B91"/>
                </a:solidFill>
                <a:latin typeface="Liberation Sans"/>
              </a:rPr>
              <a:t>S14 · C01 / C12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88136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02A43"/>
                </a:solidFill>
                <a:latin typeface="Liberation Sans"/>
              </a:rPr>
              <a:t>Passage à la pratique supervisée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10972800" cy="1115568"/>
          </a:xfrm>
          <a:prstGeom prst="roundRect">
            <a:avLst/>
          </a:prstGeom>
          <a:solidFill>
            <a:srgbClr val="EDF5F7"/>
          </a:solidFill>
          <a:ln w="12700">
            <a:solidFill>
              <a:srgbClr val="18A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6583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A43"/>
                </a:solidFill>
                <a:latin typeface="Liberation Sans"/>
              </a:rPr>
              <a:t>TD04 + capstone: triage, remédiation, retest, rapport et défense individuelle.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80360"/>
            <a:ext cx="2103120" cy="32918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B91"/>
                </a:solidFill>
                <a:latin typeface="Liberation Sans"/>
              </a:rPr>
              <a:t>PREUVES À REMETTRE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401568"/>
            <a:ext cx="438912" cy="438912"/>
          </a:xfrm>
          <a:prstGeom prst="roundRect">
            <a:avLst/>
          </a:prstGeom>
          <a:solidFill>
            <a:srgbClr val="18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419856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3383280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timeline sourcée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114800"/>
            <a:ext cx="438912" cy="438912"/>
          </a:xfrm>
          <a:prstGeom prst="roundRect">
            <a:avLst/>
          </a:prstGeom>
          <a:solidFill>
            <a:srgbClr val="1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133087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096512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décision proportionnée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828032"/>
            <a:ext cx="438912" cy="438912"/>
          </a:xfrm>
          <a:prstGeom prst="roundRect">
            <a:avLst/>
          </a:prstGeom>
          <a:solidFill>
            <a:srgbClr val="D69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846320"/>
            <a:ext cx="438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809744"/>
            <a:ext cx="64008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533"/>
                </a:solidFill>
                <a:latin typeface="Liberation Sans"/>
              </a:rPr>
              <a:t>rapport multi-audience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926080"/>
            <a:ext cx="2971800" cy="242316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3218688"/>
            <a:ext cx="24231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83E1E7"/>
                </a:solidFill>
                <a:latin typeface="Liberation Sans"/>
              </a:rPr>
              <a:t>STOP CONDITION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794760"/>
            <a:ext cx="2423160" cy="11430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Cible inattendue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Secret réel</a:t>
            </a:r>
          </a:p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Liberation Sans"/>
              </a:rPr>
              <a:t>Reset incertain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26777"/>
                </a:solidFill>
                <a:latin typeface="Liberation Sans"/>
              </a:rPr>
              <a:t>112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Sécurité des applications et services web — présentation étudiante</dc:title>
  <dc:subject>Support étudiant complet — 14 séances</dc:subject>
  <dc:creator>Leaders University — identité visuelle à confirmer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